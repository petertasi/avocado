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387816" cy="30275784"/>
  <p:notesSz cx="30275784" cy="2138781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87816" cy="4572000"/>
          </a:xfrm>
          <a:prstGeom prst="rect">
            <a:avLst/>
          </a:prstGeom>
          <a:solidFill>
            <a:srgbClr val="14301F"/>
          </a:solidFill>
          <a:ln w="12700">
            <a:solidFill>
              <a:srgbClr val="1430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658368"/>
            <a:ext cx="1463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3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中原大學 2026 年「AI 教與學標竿課程實踐暨成果展演競賽專案」．學生組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1170432"/>
            <a:ext cx="1371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AdaptLearn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1371600" y="2889504"/>
            <a:ext cx="1371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BFD6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知道你哪裡不會，比你自己更早。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371600" y="3767328"/>
            <a:ext cx="1691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91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自適應學習平台：把講義與手寫筆記變成技能樹、卡關歸因與 FSRS-5 複習排程　│　組名 avocado　│　蔡旻烜（一人團隊）</a:t>
            </a:r>
            <a:endParaRPr lang="en-US" sz="1500" dirty="0"/>
          </a:p>
        </p:txBody>
      </p:sp>
      <p:pic>
        <p:nvPicPr>
          <p:cNvPr id="7" name="Image 0" descr="/private/tmp/claude-501/-Users-petertsai-Documents-project/dcb9bd40-99d5-4e0e-9913-d6e32ff3b206/scratchpad/sho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95976" y="1234440"/>
            <a:ext cx="1920240" cy="2889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5257800"/>
            <a:ext cx="12070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600"/>
              </a:lnSpc>
              <a:buNone/>
            </a:pPr>
            <a:r>
              <a:rPr lang="en-US" sz="5400" b="1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我不是後面聽不懂，
</a:t>
            </a:r>
            <a:pPr indent="0" marL="0">
              <a:lnSpc>
                <a:spcPts val="7600"/>
              </a:lnSpc>
              <a:buNone/>
            </a:pPr>
            <a:r>
              <a:rPr lang="en-US" sz="54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我是前面沒學好。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14081760" y="5394960"/>
            <a:ext cx="5943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線性代數的前面章節不是「考完就能忘的進度」，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是後面章節在用的工具。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SVD 卡住，通常不是 SVD 難，</a:t>
            </a:r>
            <a:endParaRPr lang="en-US" sz="17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是三個禮拜前的「正交性」沒有真的懂。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371600" y="7882128"/>
            <a:ext cx="1865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而考卷只會告訴你「這題錯了」——不會告訴你，你是三章以前就沒學好。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0" y="9326880"/>
            <a:ext cx="21387816" cy="10881360"/>
          </a:xfrm>
          <a:prstGeom prst="rect">
            <a:avLst/>
          </a:prstGeom>
          <a:solidFill>
            <a:srgbClr val="F4F5F1"/>
          </a:solidFill>
          <a:ln w="12700">
            <a:solidFill>
              <a:srgbClr val="F4F5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71600" y="10012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這張海報只講一件事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371600" y="10607040"/>
            <a:ext cx="1865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我卡在「正交基底」，</a:t>
            </a:r>
            <a:pPr indent="0" marL="0">
              <a:buNone/>
            </a:pPr>
            <a:r>
              <a:rPr lang="en-US" sz="420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真正的問題在三層之前的「內積」</a:t>
            </a:r>
            <a:endParaRPr lang="en-US" sz="4200" dirty="0"/>
          </a:p>
        </p:txBody>
      </p:sp>
      <p:pic>
        <p:nvPicPr>
          <p:cNvPr id="14" name="Image 1" descr="/private/tmp/claude-501/-Users-petertsai-Documents-project/dcb9bd40-99d5-4e0e-9913-d6e32ff3b206/scratchpad/shots/06a-tre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0"/>
            <a:ext cx="18653760" cy="529437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371600" y="17373600"/>
            <a:ext cx="18653760" cy="1828800"/>
          </a:xfrm>
          <a:prstGeom prst="roundRect">
            <a:avLst>
              <a:gd name="adj" fmla="val 9000"/>
            </a:avLst>
          </a:prstGeom>
          <a:solidFill>
            <a:srgbClr val="E4EDE3"/>
          </a:solidFill>
          <a:ln w="19050">
            <a:solidFill>
              <a:srgbClr val="C9DCC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920240" y="17602200"/>
            <a:ext cx="1325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55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最可能的根因：</a:t>
            </a:r>
            <a:pPr indent="0" marL="0">
              <a:buNone/>
            </a:pPr>
            <a:r>
              <a:rPr lang="en-US" sz="2700" b="1" dirty="0">
                <a:solidFill>
                  <a:srgbClr val="C039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『內積』</a:t>
            </a:r>
            <a:pPr indent="0" marL="0">
              <a:buNone/>
            </a:pPr>
            <a:r>
              <a:rPr lang="en-US" sz="2700" b="1" dirty="0">
                <a:solidFill>
                  <a:srgbClr val="35573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（還沒測驗過）—— 先回去補它。</a:t>
            </a:r>
            <a:endParaRPr lang="en-US" sz="2700" dirty="0"/>
          </a:p>
        </p:txBody>
      </p:sp>
      <p:sp>
        <p:nvSpPr>
          <p:cNvPr id="17" name="Text 13"/>
          <p:cNvSpPr/>
          <p:nvPr/>
        </p:nvSpPr>
        <p:spPr>
          <a:xfrm>
            <a:off x="1920240" y="18333720"/>
            <a:ext cx="1325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A6B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內積 → 正交向量 → 正交集合 → 正交基底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14996160" y="17602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463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正交基底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14081760" y="1824228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dirty="0">
                <a:solidFill>
                  <a:srgbClr val="B87A0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學習中 67%（3 次實際作答）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1371600" y="19385280"/>
            <a:ext cx="1865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心智圖畫的是「這個屬於那個」；這張圖畫的是「我要先會什麼，才學得動這個」。每個節點都綁著掌握度，所以它能沿著先修邊往回追，找出真正的根因——而不是叫你把同一章再看一遍。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0" y="20208240"/>
            <a:ext cx="21387816" cy="4114800"/>
          </a:xfrm>
          <a:prstGeom prst="rect">
            <a:avLst/>
          </a:prstGeom>
          <a:solidFill>
            <a:srgbClr val="14301F"/>
          </a:solidFill>
          <a:ln w="12700">
            <a:solidFill>
              <a:srgbClr val="14301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371600" y="20528280"/>
            <a:ext cx="1280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 頁手寫講義丟進去，63 個概念自己長出來</a:t>
            </a:r>
            <a:endParaRPr lang="en-US" sz="2800" dirty="0"/>
          </a:p>
        </p:txBody>
      </p:sp>
      <p:sp>
        <p:nvSpPr>
          <p:cNvPr id="23" name="Text 19"/>
          <p:cNvSpPr/>
          <p:nvPr/>
        </p:nvSpPr>
        <p:spPr>
          <a:xfrm>
            <a:off x="14630400" y="205740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8FA3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輸入是我上課抄的筆記，不是打好字的講義。</a:t>
            </a:r>
            <a:endParaRPr lang="en-US" sz="1500" dirty="0"/>
          </a:p>
        </p:txBody>
      </p:sp>
      <p:pic>
        <p:nvPicPr>
          <p:cNvPr id="24" name="Image 2" descr="/private/tmp/claude-501/-Users-petertsai-Documents-project/dcb9bd40-99d5-4e0e-9913-d6e32ff3b206/scratchpad/shots/ha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1351240"/>
            <a:ext cx="2093976" cy="19202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97280" y="23317200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手寫筆記　線性代數 8-1~8-3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3465576" y="21991320"/>
            <a:ext cx="603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C6F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3000" dirty="0"/>
          </a:p>
        </p:txBody>
      </p:sp>
      <p:sp>
        <p:nvSpPr>
          <p:cNvPr id="27" name="Shape 22"/>
          <p:cNvSpPr/>
          <p:nvPr/>
        </p:nvSpPr>
        <p:spPr>
          <a:xfrm>
            <a:off x="4069080" y="21442680"/>
            <a:ext cx="4023360" cy="1737360"/>
          </a:xfrm>
          <a:prstGeom prst="roundRect">
            <a:avLst>
              <a:gd name="adj" fmla="val 7895"/>
            </a:avLst>
          </a:prstGeom>
          <a:solidFill>
            <a:srgbClr val="1E4630"/>
          </a:solidFill>
          <a:ln w="15240">
            <a:solidFill>
              <a:srgbClr val="2F5C4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343400" y="21671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在我的電腦上做 OCR</a:t>
            </a:r>
            <a:endParaRPr lang="en-US" sz="1800" dirty="0"/>
          </a:p>
        </p:txBody>
      </p:sp>
      <p:sp>
        <p:nvSpPr>
          <p:cNvPr id="29" name="Text 24"/>
          <p:cNvSpPr/>
          <p:nvPr/>
        </p:nvSpPr>
        <p:spPr>
          <a:xfrm>
            <a:off x="4343400" y="22128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8BC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Ollama 本機視覺模型打頭陣，後面三層備援。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8BC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離線、零 API 成本、資料不外傳。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4069080" y="23317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辨識不出來會明確告警，絕不靜默套模板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8092440" y="21991320"/>
            <a:ext cx="603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C6F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3000" dirty="0"/>
          </a:p>
        </p:txBody>
      </p:sp>
      <p:sp>
        <p:nvSpPr>
          <p:cNvPr id="32" name="Shape 27"/>
          <p:cNvSpPr/>
          <p:nvPr/>
        </p:nvSpPr>
        <p:spPr>
          <a:xfrm>
            <a:off x="8686800" y="21442680"/>
            <a:ext cx="4023360" cy="1737360"/>
          </a:xfrm>
          <a:prstGeom prst="roundRect">
            <a:avLst>
              <a:gd name="adj" fmla="val 7895"/>
            </a:avLst>
          </a:prstGeom>
          <a:solidFill>
            <a:srgbClr val="1E4630"/>
          </a:solidFill>
          <a:ln w="15240">
            <a:solidFill>
              <a:srgbClr val="2F5C42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961120" y="216712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抽出概念與先修關係</a:t>
            </a:r>
            <a:endParaRPr lang="en-US" sz="1800" dirty="0"/>
          </a:p>
        </p:txBody>
      </p:sp>
      <p:sp>
        <p:nvSpPr>
          <p:cNvPr id="34" name="Text 29"/>
          <p:cNvSpPr/>
          <p:nvPr/>
        </p:nvSpPr>
        <p:spPr>
          <a:xfrm>
            <a:off x="8961120" y="221284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8BC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難的不是抽概念，是抽「誰是誰的先修」。</a:t>
            </a:r>
            <a:endParaRPr lang="en-US" sz="13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A8BCA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先修只能指向同一批概念，防止 LLM 亂連。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8686800" y="23317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概念 ID 決定論生成，同一個概念不會分裂成兩個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12710160" y="21991320"/>
            <a:ext cx="603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5C6F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</a:t>
            </a:r>
            <a:endParaRPr lang="en-US" sz="3000" dirty="0"/>
          </a:p>
        </p:txBody>
      </p:sp>
      <p:pic>
        <p:nvPicPr>
          <p:cNvPr id="37" name="Image 3" descr="/private/tmp/claude-501/-Users-petertsai-Documents-project/dcb9bd40-99d5-4e0e-9913-d6e32ff3b206/scratchpad/shots/02-tre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4520" y="21488400"/>
            <a:ext cx="6720840" cy="1664208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13304520" y="23317200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39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一棵可以回溯根因的技能樹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1371600" y="23728680"/>
            <a:ext cx="1865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D6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 63 個概念、還有課與課之間的 44 條連結，沒有一個是我手動輸入的 —— 全部由這條管線跑出來。</a:t>
            </a:r>
            <a:endParaRPr lang="en-US" sz="1500" dirty="0"/>
          </a:p>
        </p:txBody>
      </p:sp>
      <p:sp>
        <p:nvSpPr>
          <p:cNvPr id="40" name="Text 34"/>
          <p:cNvSpPr/>
          <p:nvPr/>
        </p:nvSpPr>
        <p:spPr>
          <a:xfrm>
            <a:off x="1371600" y="24643080"/>
            <a:ext cx="1865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卡關歸因不是單獨運作的，它站在另外三個零件上面</a:t>
            </a:r>
            <a:endParaRPr lang="en-US" sz="2600" dirty="0"/>
          </a:p>
        </p:txBody>
      </p:sp>
      <p:pic>
        <p:nvPicPr>
          <p:cNvPr id="41" name="Image 4" descr="/private/tmp/claude-501/-Users-petertsai-Documents-project/dcb9bd40-99d5-4e0e-9913-d6e32ff3b206/scratchpad/shots/04-crosscour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25511760"/>
            <a:ext cx="10424160" cy="233172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371600" y="279349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我原本只想解決一門課。丟第二門、第三門進去之後，系統自己在課與課之間拉出了連結——沒有人教過它。</a:t>
            </a:r>
            <a:endParaRPr lang="en-US" sz="1400" dirty="0"/>
          </a:p>
        </p:txBody>
      </p:sp>
      <p:sp>
        <p:nvSpPr>
          <p:cNvPr id="43" name="Shape 36"/>
          <p:cNvSpPr/>
          <p:nvPr/>
        </p:nvSpPr>
        <p:spPr>
          <a:xfrm>
            <a:off x="12344400" y="25475184"/>
            <a:ext cx="201168" cy="201168"/>
          </a:xfrm>
          <a:prstGeom prst="ellipse">
            <a:avLst/>
          </a:prstGeom>
          <a:solidFill>
            <a:srgbClr val="2F6B3E"/>
          </a:solidFill>
          <a:ln w="6350">
            <a:solidFill>
              <a:srgbClr val="2F6B3E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12755880" y="25328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自適應測驗，由 AI 批改</a:t>
            </a:r>
            <a:endParaRPr lang="en-US" sz="2000" dirty="0"/>
          </a:p>
        </p:txBody>
      </p:sp>
      <p:sp>
        <p:nvSpPr>
          <p:cNvPr id="45" name="Text 38"/>
          <p:cNvSpPr/>
          <p:nvPr/>
        </p:nvSpPr>
        <p:spPr>
          <a:xfrm>
            <a:off x="12755880" y="2574950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系統挑最弱、最沒測過的概念出題，不是隨機。開放式作答，回饋會指出推理斷在哪一步。</a:t>
            </a:r>
            <a:endParaRPr lang="en-US" sz="1400" dirty="0"/>
          </a:p>
        </p:txBody>
      </p:sp>
      <p:sp>
        <p:nvSpPr>
          <p:cNvPr id="46" name="Shape 39"/>
          <p:cNvSpPr/>
          <p:nvPr/>
        </p:nvSpPr>
        <p:spPr>
          <a:xfrm>
            <a:off x="12344400" y="26499312"/>
            <a:ext cx="201168" cy="201168"/>
          </a:xfrm>
          <a:prstGeom prst="ellipse">
            <a:avLst/>
          </a:prstGeom>
          <a:solidFill>
            <a:srgbClr val="2F6B3E"/>
          </a:solidFill>
          <a:ln w="6350">
            <a:solidFill>
              <a:srgbClr val="2F6B3E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12755880" y="263530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FSRS-5 遺忘曲線</a:t>
            </a:r>
            <a:endParaRPr lang="en-US" sz="2000" dirty="0"/>
          </a:p>
        </p:txBody>
      </p:sp>
      <p:sp>
        <p:nvSpPr>
          <p:cNvPr id="48" name="Text 41"/>
          <p:cNvSpPr/>
          <p:nvPr/>
        </p:nvSpPr>
        <p:spPr>
          <a:xfrm>
            <a:off x="12755880" y="26773632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把作答歷史重放進記憶模型，算出「此刻還記得的機率」。錯的東西不會消失，它會排隊等你回來。</a:t>
            </a:r>
            <a:endParaRPr lang="en-US" sz="1400" dirty="0"/>
          </a:p>
        </p:txBody>
      </p:sp>
      <p:sp>
        <p:nvSpPr>
          <p:cNvPr id="49" name="Shape 42"/>
          <p:cNvSpPr/>
          <p:nvPr/>
        </p:nvSpPr>
        <p:spPr>
          <a:xfrm>
            <a:off x="12344400" y="27523440"/>
            <a:ext cx="201168" cy="201168"/>
          </a:xfrm>
          <a:prstGeom prst="ellipse">
            <a:avLst/>
          </a:prstGeom>
          <a:solidFill>
            <a:srgbClr val="2F6B3E"/>
          </a:solidFill>
          <a:ln w="6350">
            <a:solidFill>
              <a:srgbClr val="2F6B3E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12755880" y="2737713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跨課程語義橋</a:t>
            </a:r>
            <a:endParaRPr lang="en-US" sz="2000" dirty="0"/>
          </a:p>
        </p:txBody>
      </p:sp>
      <p:sp>
        <p:nvSpPr>
          <p:cNvPr id="51" name="Text 44"/>
          <p:cNvSpPr/>
          <p:nvPr/>
        </p:nvSpPr>
        <p:spPr>
          <a:xfrm>
            <a:off x="12755880" y="2779776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手寫講義的「單範正交集」與另一門課的「正交集合」被判為等價概念，相似度 87%。畫面上這門課相關 37 條，全部 4 門課共 44 條。</a:t>
            </a:r>
            <a:endParaRPr lang="en-US" sz="1400" dirty="0"/>
          </a:p>
        </p:txBody>
      </p:sp>
      <p:sp>
        <p:nvSpPr>
          <p:cNvPr id="52" name="Shape 45"/>
          <p:cNvSpPr/>
          <p:nvPr/>
        </p:nvSpPr>
        <p:spPr>
          <a:xfrm>
            <a:off x="0" y="28483560"/>
            <a:ext cx="21387816" cy="1792224"/>
          </a:xfrm>
          <a:prstGeom prst="rect">
            <a:avLst/>
          </a:prstGeom>
          <a:solidFill>
            <a:srgbClr val="F4F5F1"/>
          </a:solidFill>
          <a:ln w="12700">
            <a:solidFill>
              <a:srgbClr val="F4F5F1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1371600" y="28757880"/>
            <a:ext cx="1188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會失敗 —— 所以我把失敗也設計進去</a:t>
            </a:r>
            <a:endParaRPr lang="en-US" sz="2200" dirty="0"/>
          </a:p>
        </p:txBody>
      </p:sp>
      <p:sp>
        <p:nvSpPr>
          <p:cNvPr id="54" name="Text 47"/>
          <p:cNvSpPr/>
          <p:nvPr/>
        </p:nvSpPr>
        <p:spPr>
          <a:xfrm>
            <a:off x="1371600" y="29279088"/>
            <a:ext cx="12435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手寫辨識走四層 OCR 備援鏈，第一層在我自己的電腦上跑，離線、不用付費、資料不外傳。防 LLM 幻覺三道防線：先修只能指向同一批概念、過濾行政雜訊、概念 ID 決定論生成不分裂。最後一條是誠實原則 —— OCR 失敗會明確告警，絕不靜默套模板假裝成功。</a:t>
            </a:r>
            <a:endParaRPr lang="en-US" sz="1450" dirty="0"/>
          </a:p>
        </p:txBody>
      </p:sp>
      <p:sp>
        <p:nvSpPr>
          <p:cNvPr id="55" name="Text 48"/>
          <p:cNvSpPr/>
          <p:nvPr/>
        </p:nvSpPr>
        <p:spPr>
          <a:xfrm>
            <a:off x="13716000" y="28730448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 頁手寫講義本機 OCR　·　4 門課 63 概念</a:t>
            </a:r>
            <a:endParaRPr lang="en-US" sz="1450" dirty="0"/>
          </a:p>
          <a:p>
            <a:pPr algn="r" indent="0" marL="0">
              <a:lnSpc>
                <a:spcPts val="2400"/>
              </a:lnSpc>
              <a:buNone/>
            </a:pPr>
            <a:r>
              <a:rPr lang="en-US" sz="1450" b="1" dirty="0">
                <a:solidFill>
                  <a:srgbClr val="2F6B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105 / 110 自動化測試通過　·　44 條跨課程連結</a:t>
            </a:r>
            <a:endParaRPr lang="en-US" sz="1450" dirty="0"/>
          </a:p>
        </p:txBody>
      </p:sp>
      <p:sp>
        <p:nvSpPr>
          <p:cNvPr id="56" name="Text 49"/>
          <p:cNvSpPr/>
          <p:nvPr/>
        </p:nvSpPr>
        <p:spPr>
          <a:xfrm>
            <a:off x="13716000" y="2964484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React ／ FastAPI ／ PostgreSQL ／ ChromaDB</a:t>
            </a:r>
            <a:endParaRPr lang="en-US" sz="1250" dirty="0"/>
          </a:p>
          <a:p>
            <a:pPr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7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Gemini API ／ 本機 Ollama 視覺模型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AdaptLearn 海報</dc:title>
  <dc:subject>PptxGenJS Presentation</dc:subject>
  <dc:creator>蔡旻烜</dc:creator>
  <cp:lastModifiedBy>蔡旻烜</cp:lastModifiedBy>
  <cp:revision>1</cp:revision>
  <dcterms:created xsi:type="dcterms:W3CDTF">2026-08-23T16:25:40Z</dcterms:created>
  <dcterms:modified xsi:type="dcterms:W3CDTF">2026-08-23T16:25:40Z</dcterms:modified>
</cp:coreProperties>
</file>