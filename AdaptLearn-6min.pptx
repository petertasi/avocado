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站定，不要急著切投影片。深呼吸。
開場第一句直接進第 2 頁的故事，不要念封面。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「我今天不想再做一個 AI 幫你回答問題的工具。」——講完停一秒。
因為學生最大的問題，不是沒有答案，是不知道自己為什麼會錯。
這件事我自己撞過一次：線性代數，前面向量、矩陣都跟得上，
學到正交、投影、SVD 整個卡住。
考卷只說「這題錯了」，不會說：你是第四章沒學好，第九章才會錯。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這一頁停久一點，看評審。
「我不是後面聽不懂，我是前面沒學好。」
線代前面的章節不是考完就能忘的進度，是後面章節在用的工具。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我當然先去問 AI。Gemini 很好用，但知識沒有被留下來 ——
今天問完，明天忘記，它不知道我上禮拜問過什麼。
後來改用 NotebookLM，它有心智圖。但心智圖畫的是「這個屬於那個」——隸屬關係。
我要的是「我要先會什麼，才學得動這個」。這兩件事完全不一樣。
沒有人做給我，所以我自己做了。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這是我的網站。我把一份線性代數講義丟進去，
建出來的不是心智圖，是一棵技能樹。
左邊基礎、右邊進階，箭頭永遠是先修 → 進階。
三種狀態：綠色已掌握、發光代表先修全綠現在可以學了、上鎖代表學了會撞牆。
所以我不用想今天要念哪裡，它會告訴我今天可以念哪裡。
【橋接，一定要講】但我很快又發現一個問題 ——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【接上一頁】知道今天可以念哪裡，還是不夠。
因為當我真的卡住的時候，我還是不知道自己到底卡在哪。
所以我做了第二件事 —— 卡關歸因。
這個「正交基底」，我掌握度只有 67%，卡住了。我點下去 ——
它往回追了三層：正交基底 ← 正交集合 ← 正交向量 ← 內積。
然後直接跟我講：最可能的根因是「內積」，你還沒測驗過，先回去補它。
我卡在正交基底，但真正的問題在最前面的內積。
這就是一年前的我，最需要有人跟我講的那一句話。
（掌握度 67% 是三題實際作答、兩對一錯算出來的，不是設定值。）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【橋接】但它說我卡在內積，我怎麼知道它說得對不對？
光靠系統推論還不夠 —— 我需要讓它考我。
所以測驗是內建的：系統挑我最弱、最沒測過的概念出題，不是隨機。
作答是開放式的，由 AI 批改，會指出我的推理是在哪一步斷掉的。
每一次作答同時更新掌握度、技能樹狀態與複習排程 —— 是一個閉環。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【橋接】但考完也還沒結束 —— 因為今天會，不代表三天後還會。
它用 FSRS-5 把我的作答歷史重放進記憶模型，
算出每個概念「此刻還記得的機率」。
所以今晚先讀什麼不是我排的，是遺忘曲線算出來的。
錯的東西不會消失，它會排隊等我回來。
（如果被問「為什麼是 FSRS-5」：因為我需要一個可以估「此刻回憶機率」的模型，
  才能拿它當排序依據。不要講「最新版本」。）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【橋接】所以這套東西，真的改變我的學習了嗎？
這不是實驗數據，是我自己。上學期班排 22，本學期第 10。（講完停一秒）
做法是：考前三週先用診斷測驗找出弱點，再照遺忘曲線排程複習。
（四科 90 分以上投影片上有，不用再念一次。）
誠實講：成績進步受多重因素影響，不能全歸因於單一工具。
我能確定的是，我的複習方式從反覆重讀已經會的，變成有計畫地補缺口。
※ 這一句一定要講，評審在測的是誠實。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【橋接，語氣要像講一件意外的事】我原本只是想解決一門課的問題。
結果當我把第二門、第三門課也放進去之後 ——
系統自己在課與課之間拉出了連結。
我手寫講義裡的「單範正交集」，跟另一門課的「正交集合」，
被判為同一件事 —— 相似度 87%。這些線沒有人教過它。
※ 數字要講清楚：畫面上的 37 條是這門課相關的；全部 4 門課共 44 條。
（被問怎麼知道連結是對的：門檻 0.68 是用標註樣本實測分佈校準的。）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【橋接】最後，我知道你們可能會懷疑：這是不是 AI 隨便生成出來的？
所以我把 AI 的失敗也設計進去了。
手寫辨識在我自己的筆電上跑，資料不外傳。
AI 會失敗，所以我把失敗也設計進去：四層 OCR 備援鏈、防幻覺三道防線、
還有一條誠實原則 —— OCR 失敗會明確告警，絕不靜默套模板假裝成功。
這是我修過的真實 bug，教訓寫進了設計原則。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停一下，看評審。
「所以這個網站，沒有一個功能是我想像出來的。
每一個，都是我自己學不下去的時候，真的希望有人給我的東西。」
最後一句留在評審腦裡：它不只告訴你答案，它告訴你你為什麼不會。
謝謝。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etertsai-Documents-project/dcb9bd40-99d5-4e0e-9913-d6e32ff3b206/scratchpad/sho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1298448" cy="1947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51760" y="187452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AdaptLearn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2651760" y="28803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D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知道你哪裡不會，比你自己更早。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651760" y="34015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把講義與手寫筆記變成技能樹、卡關歸因與複習排程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800" y="594360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1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組名 avocado　│　蔡旻烜　│　中原大學 2026 AI 教與學標竿課程實踐暨成果展演競賽　學生組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為什麼做這個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我今天不想再做一個
</a:t>
            </a:r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「AI 幫你回答問題」</a:t>
            </a:r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的工具。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3154680"/>
            <a:ext cx="6766560" cy="1234440"/>
          </a:xfrm>
          <a:prstGeom prst="roundRect">
            <a:avLst>
              <a:gd name="adj" fmla="val 8889"/>
            </a:avLst>
          </a:prstGeom>
          <a:solidFill>
            <a:srgbClr val="E4EDE3"/>
          </a:solidFill>
          <a:ln w="9525">
            <a:solidFill>
              <a:srgbClr val="C9DC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154680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E46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因為學生最大的問題，不是沒有答案，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E46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是不知道自己「為什麼會錯」。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4617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這件事，我自己撞過一次。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0" y="1143000"/>
            <a:ext cx="3639312" cy="3840480"/>
          </a:xfrm>
          <a:prstGeom prst="roundRect">
            <a:avLst>
              <a:gd name="adj" fmla="val 3015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那堂課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83880" y="1737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線性代數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183880" y="24688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向量、矩陣、行列式 —— 跟得上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正交、投影、SVD —— 整個卡住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考卷只說「這題錯了」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沒有人告訴我：錯在三章以前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5725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FBF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FB5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我後來才發現的事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4400" b="1" dirty="0">
                <a:solidFill>
                  <a:srgbClr val="9FC8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我不是後面聽不懂，
</a:t>
            </a:r>
            <a:pPr indent="0" marL="0">
              <a:lnSpc>
                <a:spcPts val="6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我是前面沒學好。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4069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A8BC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線性代數的前面章節不是「考完就能忘的進度」，是後面章節在用的工具。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A8BC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SVD 卡住，通常不是 SVD 難，是三個禮拜前的「正交性」沒有真的懂。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我試過的工具，跟它們差在哪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能回答問題，不等於知道我卡在哪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364992" cy="3291840"/>
          </a:xfrm>
          <a:prstGeom prst="roundRect">
            <a:avLst>
              <a:gd name="adj" fmla="val 3333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93852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聊天式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8408" y="2286000"/>
            <a:ext cx="27797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問一題，答一題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78408" y="3337560"/>
            <a:ext cx="2779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答案很好用，但知識沒有被留下來。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今天問完，明天忘記；聊天紀錄往下滑三十則，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我不知道上禮拜問過什麼。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364992" cy="3291840"/>
          </a:xfrm>
          <a:prstGeom prst="roundRect">
            <a:avLst>
              <a:gd name="adj" fmla="val 3333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93852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NotebookLM 心智圖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6008" y="2286000"/>
            <a:ext cx="27797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畫的是「這個屬於那個」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36008" y="3337560"/>
            <a:ext cx="2779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第一章底下有三個小節 —— 這是隸屬關係。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它不知道我會不會，也不知道我該從哪裡開始。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01000" y="1691640"/>
            <a:ext cx="3364992" cy="3291840"/>
          </a:xfrm>
          <a:prstGeom prst="roundRect">
            <a:avLst>
              <a:gd name="adj" fmla="val 3333"/>
            </a:avLst>
          </a:prstGeom>
          <a:solidFill>
            <a:srgbClr val="E4EDE3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93852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我真正需要的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93608" y="2286000"/>
            <a:ext cx="27797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E46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「我要先會什麼，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E46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才學得動這個？」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93608" y="3337560"/>
            <a:ext cx="2779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55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先修依賴，不是隸屬關係。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55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這兩件事完全不一樣 ——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55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而且沒有人做給我。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5725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我第一個想要的東西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丟進一份講義，長出來的不是心智圖，是一棵技能樹</a:t>
            </a:r>
            <a:endParaRPr lang="en-US" sz="3400" dirty="0"/>
          </a:p>
        </p:txBody>
      </p:sp>
      <p:pic>
        <p:nvPicPr>
          <p:cNvPr id="5" name="Image 0" descr="/private/tmp/claude-501/-Users-petertsai-Documents-project/dcb9bd40-99d5-4e0e-9913-d6e32ff3b206/scratchpad/shots/02-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10817352" cy="2679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4956048"/>
            <a:ext cx="182880" cy="182880"/>
          </a:xfrm>
          <a:prstGeom prst="ellipse">
            <a:avLst/>
          </a:prstGeom>
          <a:solidFill>
            <a:srgbClr val="2F6B3E"/>
          </a:solidFill>
          <a:ln w="6350">
            <a:solidFill>
              <a:srgbClr val="2F6B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4864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綠色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7552" y="51572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已經掌握的概念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20440" y="4956048"/>
            <a:ext cx="182880" cy="182880"/>
          </a:xfrm>
          <a:prstGeom prst="ellipse">
            <a:avLst/>
          </a:prstGeom>
          <a:solidFill>
            <a:srgbClr val="6C63E0"/>
          </a:solidFill>
          <a:ln w="6350">
            <a:solidFill>
              <a:srgbClr val="6C63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22192" y="4864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發光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822192" y="51572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先修全綠 —— 現在可以學了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55080" y="4956048"/>
            <a:ext cx="182880" cy="182880"/>
          </a:xfrm>
          <a:prstGeom prst="ellipse">
            <a:avLst/>
          </a:prstGeom>
          <a:solidFill>
            <a:srgbClr val="6E7772"/>
          </a:solidFill>
          <a:ln w="6350">
            <a:solidFill>
              <a:srgbClr val="6E777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864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上鎖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56832" y="51572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先修沒完成，現在學會撞牆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235440" y="4828032"/>
            <a:ext cx="2953512" cy="749808"/>
          </a:xfrm>
          <a:prstGeom prst="roundRect">
            <a:avLst>
              <a:gd name="adj" fmla="val 12195"/>
            </a:avLst>
          </a:prstGeom>
          <a:solidFill>
            <a:srgbClr val="E4EDE3"/>
          </a:solidFill>
          <a:ln w="9525">
            <a:solidFill>
              <a:srgbClr val="C9DCC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64040" y="482803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6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它會告訴我今天可以念哪裡。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左邊是基礎，右邊是進階，箭頭永遠同一個方向：先修 → 進階。分層的有向圖，不是一顆毛球。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95725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但知道今天念哪裡，還是不知道我卡在哪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我卡在「正交基底」，</a:t>
            </a:r>
            <a:pPr indent="0" marL="0">
              <a:buNone/>
            </a:pPr>
            <a:r>
              <a:rPr lang="en-US" sz="30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真正的問題在三層之前的「內積」</a:t>
            </a:r>
            <a:endParaRPr lang="en-US" sz="3000" dirty="0"/>
          </a:p>
        </p:txBody>
      </p:sp>
      <p:pic>
        <p:nvPicPr>
          <p:cNvPr id="5" name="Image 0" descr="/private/tmp/claude-501/-Users-petertsai-Documents-project/dcb9bd40-99d5-4e0e-9913-d6e32ff3b206/scratchpad/shots/06a-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572768"/>
            <a:ext cx="10058400" cy="28072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4572000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E4EDE3"/>
          </a:solidFill>
          <a:ln w="9525">
            <a:solidFill>
              <a:srgbClr val="C9DCC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47365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5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最可能的根因：</a:t>
            </a:r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『內積』</a:t>
            </a:r>
            <a:pPr indent="0" marL="0">
              <a:buNone/>
            </a:pPr>
            <a:r>
              <a:rPr lang="en-US" sz="2000" b="1" dirty="0">
                <a:solidFill>
                  <a:srgbClr val="355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（還沒測驗過）—— 先回去補它。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560" y="5257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內積 → 正交向量 → 正交集合 → 正交基底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778240" y="47365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46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正交基底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0" y="51389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7A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學習中 67%（3 次實際作答）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5725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那我怎麼確認我真的會了？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學習最好的方法是被問倒 —— 所以這件事是內建的</a:t>
            </a:r>
            <a:endParaRPr lang="en-US" sz="3400" dirty="0"/>
          </a:p>
        </p:txBody>
      </p:sp>
      <p:pic>
        <p:nvPicPr>
          <p:cNvPr id="5" name="Image 0" descr="/private/tmp/claude-501/-Users-petertsai-Documents-project/dcb9bd40-99d5-4e0e-9913-d6e32ff3b206/scratchpad/shots/09-qu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6309360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69480" y="1828800"/>
            <a:ext cx="4233672" cy="1207008"/>
          </a:xfrm>
          <a:prstGeom prst="roundRect">
            <a:avLst>
              <a:gd name="adj" fmla="val 9091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43800" y="195681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不是隨機出題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43800" y="230428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系統挑我最弱、最沒測過的概念出題，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主動把漏洞逼出來。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269480" y="3246120"/>
            <a:ext cx="4233672" cy="1207008"/>
          </a:xfrm>
          <a:prstGeom prst="roundRect">
            <a:avLst>
              <a:gd name="adj" fmla="val 9091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43800" y="337413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開放式作答，AI 批改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43800" y="372160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不是選擇題比對答案。它會指出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我的推理是在哪一步斷掉的。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269480" y="4663440"/>
            <a:ext cx="4233672" cy="1207008"/>
          </a:xfrm>
          <a:prstGeom prst="roundRect">
            <a:avLst>
              <a:gd name="adj" fmla="val 9091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43800" y="479145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分數會回流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43800" y="513892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每一次作答同時更新掌握度、技能樹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狀態與複習排程 —— 是一個閉環。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95725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今天會，不代表三天後還會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它用遺忘曲線決定我今晚該讀什麼</a:t>
            </a:r>
            <a:endParaRPr lang="en-US" sz="3400" dirty="0"/>
          </a:p>
        </p:txBody>
      </p:sp>
      <p:pic>
        <p:nvPicPr>
          <p:cNvPr id="5" name="Image 0" descr="/private/tmp/claude-501/-Users-petertsai-Documents-project/dcb9bd40-99d5-4e0e-9913-d6e32ff3b206/scratchpad/shots/08-to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91640"/>
            <a:ext cx="38404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7373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每個概念是一張記憶卡片。系統把我全部的作答歷史重放進 FSRS-5 間隔重複模型，重建每個概念的記憶穩定度，算出「此刻還記得的機率」。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971800"/>
            <a:ext cx="6583680" cy="566928"/>
          </a:xfrm>
          <a:prstGeom prst="roundRect">
            <a:avLst>
              <a:gd name="adj" fmla="val 14516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9718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「今晚先讀什麼」不是我自己排的，是遺忘曲線算出來的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3721608"/>
            <a:ext cx="6583680" cy="566928"/>
          </a:xfrm>
          <a:prstGeom prst="roundRect">
            <a:avLst>
              <a:gd name="adj" fmla="val 14516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372160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快忘掉的、又是弱點的，排最前面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" y="4471416"/>
            <a:ext cx="6583680" cy="566928"/>
          </a:xfrm>
          <a:prstGeom prst="roundRect">
            <a:avLst>
              <a:gd name="adj" fmla="val 14516"/>
            </a:avLst>
          </a:prstGeom>
          <a:solidFill>
            <a:srgbClr val="E4EDE3"/>
          </a:solidFill>
          <a:ln w="9525">
            <a:solidFill>
              <a:srgbClr val="C9DCC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447141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6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錯的東西不會消失，它會排隊等我回來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5725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FBF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FB5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那它真的改變我的學習了嗎？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FD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這不是實驗數據，是我自己。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1901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1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班級排名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212848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0" b="1" dirty="0">
                <a:solidFill>
                  <a:srgbClr val="6E83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0400" dirty="0"/>
          </a:p>
        </p:txBody>
      </p:sp>
      <p:sp>
        <p:nvSpPr>
          <p:cNvPr id="7" name="Text 5"/>
          <p:cNvSpPr/>
          <p:nvPr/>
        </p:nvSpPr>
        <p:spPr>
          <a:xfrm>
            <a:off x="2880360" y="2212848"/>
            <a:ext cx="914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5C6F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794760" y="2212848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400" dirty="0"/>
          </a:p>
        </p:txBody>
      </p:sp>
      <p:sp>
        <p:nvSpPr>
          <p:cNvPr id="9" name="Text 7"/>
          <p:cNvSpPr/>
          <p:nvPr/>
        </p:nvSpPr>
        <p:spPr>
          <a:xfrm>
            <a:off x="68580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E91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上學期 22 / 51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9476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本學期 第 10 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1481328"/>
            <a:ext cx="4919472" cy="2423160"/>
          </a:xfrm>
          <a:prstGeom prst="roundRect">
            <a:avLst>
              <a:gd name="adj" fmla="val 4528"/>
            </a:avLst>
          </a:prstGeom>
          <a:solidFill>
            <a:srgbClr val="1E4630"/>
          </a:solidFill>
          <a:ln w="9525">
            <a:solidFill>
              <a:srgbClr val="2F5C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6916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FBF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期末考前三週的複習方式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2121408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6E4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先用診斷測驗找出弱點概念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6E4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再按「今晚該讀什麼」與遺忘曲線排程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6E4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把有限時間集中在最需要的概念上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6E4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工程數學、演算法、訊號與系統、資料探勘皆 90 分以上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343400"/>
            <a:ext cx="10817352" cy="960120"/>
          </a:xfrm>
          <a:prstGeom prst="roundRect">
            <a:avLst>
              <a:gd name="adj" fmla="val 9524"/>
            </a:avLst>
          </a:prstGeom>
          <a:solidFill>
            <a:srgbClr val="1E4630"/>
          </a:solidFill>
          <a:ln w="9525">
            <a:solidFill>
              <a:srgbClr val="2F5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4340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FD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成績進步受多重因素影響，無法全數歸因於單一工具。但它把「不知道自己哪裡不會」變成「明確的弱點清單與複習時點」—— 這確實改變了我複習的方式。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然後它做到一件我沒預期的事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我原本只想解決一門課 —— 結果它把課與課連起來了</a:t>
            </a:r>
            <a:endParaRPr lang="en-US" sz="3400" dirty="0"/>
          </a:p>
        </p:txBody>
      </p:sp>
      <p:pic>
        <p:nvPicPr>
          <p:cNvPr id="5" name="Image 0" descr="/private/tmp/claude-501/-Users-petertsai-Documents-project/dcb9bd40-99d5-4e0e-9913-d6e32ff3b206/scratchpad/shots/04-crosscou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8275320" cy="1856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0" y="1783080"/>
            <a:ext cx="2359152" cy="1856232"/>
          </a:xfrm>
          <a:prstGeom prst="roundRect">
            <a:avLst>
              <a:gd name="adj" fmla="val 5911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281160" y="1847088"/>
            <a:ext cx="2084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9189720" y="24688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條跨課程連結（這門課相關）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281160" y="274320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 4 門課共 44 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281160" y="3054096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沒有人教過它，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這些線是它自己找的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4224528"/>
            <a:ext cx="10817352" cy="914400"/>
          </a:xfrm>
          <a:prstGeom prst="roundRect">
            <a:avLst>
              <a:gd name="adj" fmla="val 10000"/>
            </a:avLst>
          </a:prstGeom>
          <a:solidFill>
            <a:srgbClr val="E4EDE3"/>
          </a:solidFill>
          <a:ln w="9525">
            <a:solidFill>
              <a:srgbClr val="C9DCC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8408" y="4224528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6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手寫講義裡的「單範正交集」跟另一門課的「正交集合」，講的是同一件事 —— 相似度 87%，系統自己標成「等價概念」。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530352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相似度門檻 0.68 是用標註樣本的實測分佈校準出來的，不是拍腦袋定的。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95725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你可能會懷疑：這是不是 AI 隨便生成的？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會失敗 —— 所以我把失敗也設計進去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364992" cy="1965960"/>
          </a:xfrm>
          <a:prstGeom prst="roundRect">
            <a:avLst>
              <a:gd name="adj" fmla="val 5581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938528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手寫辨識在本機跑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08" y="2359152"/>
            <a:ext cx="2779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四層 OCR 備援鏈，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取第一個成功的結果。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離線、不用付費、資料不外傳。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364992" cy="1965960"/>
          </a:xfrm>
          <a:prstGeom prst="roundRect">
            <a:avLst>
              <a:gd name="adj" fmla="val 5581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938528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 LLM 幻覺三道防線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36008" y="2359152"/>
            <a:ext cx="2779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先修只能指向同一批概念、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過濾行政雜訊、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 ID 決定論生成不分裂。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01000" y="1691640"/>
            <a:ext cx="3364992" cy="1965960"/>
          </a:xfrm>
          <a:prstGeom prst="roundRect">
            <a:avLst>
              <a:gd name="adj" fmla="val 5581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3608" y="1938528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誠實原則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93608" y="2359152"/>
            <a:ext cx="2779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OCR 失敗會明確告警，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絕不靜默套模板假裝成功。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這是我修過的真實 bug。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4069080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 頁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685800" y="470916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手寫筆記在本機 OCR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43400" y="4069080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63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4343400" y="470916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概念節點 · 4 門課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01000" y="4069080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105 / 110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8001000" y="470916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自動化測試通過（5 條是待更新的舊整合測試）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53492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／ FastAPI ／ PostgreSQL ／ ChromaDB ／ Gemini API ／ 本機 Ollama 視覺模型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95725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etertsai-Documents-project/dcb9bd40-99d5-4e0e-9913-d6e32ff3b206/scratchpad/sho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4800600"/>
            <a:ext cx="868680" cy="1307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828800"/>
            <a:ext cx="9144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這個網站，沒有一個功能是我想像出來的。
</a:t>
            </a:r>
            <a:pPr indent="0" marL="0">
              <a:lnSpc>
                <a:spcPts val="4600"/>
              </a:lnSpc>
              <a:buNone/>
            </a:pPr>
            <a:r>
              <a:rPr lang="en-US" sz="2800" b="1" dirty="0">
                <a:solidFill>
                  <a:srgbClr val="9FC8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每一個，都是我自己學不下去的時候，</a:t>
            </a:r>
            <a:endParaRPr lang="en-US" sz="2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2800" b="1" dirty="0">
                <a:solidFill>
                  <a:srgbClr val="9FC8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真的希望有人給我的東西。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85800" y="4343400"/>
            <a:ext cx="8778240" cy="868680"/>
          </a:xfrm>
          <a:prstGeom prst="roundRect">
            <a:avLst>
              <a:gd name="adj" fmla="val 10526"/>
            </a:avLst>
          </a:prstGeom>
          <a:solidFill>
            <a:srgbClr val="1E4630"/>
          </a:solidFill>
          <a:ln w="9525">
            <a:solidFill>
              <a:srgbClr val="2F5C4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8408" y="4343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D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AdaptLearn 不只告訴你答案 —— 它告訴你，你為什麼不會。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598932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1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謝謝。　組名 avocado　│　蔡旻烜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AdaptLearn</dc:title>
  <dc:subject>PptxGenJS Presentation</dc:subject>
  <dc:creator>蔡旻烜</dc:creator>
  <cp:lastModifiedBy>蔡旻烜</cp:lastModifiedBy>
  <cp:revision>1</cp:revision>
  <dcterms:created xsi:type="dcterms:W3CDTF">2026-08-23T16:25:09Z</dcterms:created>
  <dcterms:modified xsi:type="dcterms:W3CDTF">2026-08-23T16:25:09Z</dcterms:modified>
</cp:coreProperties>
</file>